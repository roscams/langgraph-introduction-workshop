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9FAFB"/>
                </a:solidFill>
              </a:defRPr>
            </a:pPr>
            <a:r>
              <a:t>LangGraph Introduction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9CA3AF"/>
                </a:solidFill>
              </a:defRPr>
            </a:pPr>
            <a:r>
              <a:t>Building Stateful AI Agents with Graph-Based Workflows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9FAFB"/>
                </a:solidFill>
              </a:defRPr>
            </a:pPr>
            <a:r>
              <a:t>Workshop Agenda (2 Hours)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Part 1: Foundations (45 min)</a:t>
            </a:r>
          </a:p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    - Introduction &amp; Basic Graphs</a:t>
            </a:r>
          </a:p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    - Conditional Routing</a:t>
            </a:r>
          </a:p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</a:t>
            </a:r>
          </a:p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Part 2: Tools &amp; Memory (30 min)</a:t>
            </a:r>
          </a:p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    - Tool Integration</a:t>
            </a:r>
          </a:p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    - Persistence &amp; Memory</a:t>
            </a:r>
          </a:p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</a:t>
            </a:r>
          </a:p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Part 3: Multi-Agent &amp; Studio (40 min)</a:t>
            </a:r>
          </a:p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    - Multi-Agent Orchestration</a:t>
            </a:r>
          </a:p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    - LangGraph Studio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1F2937"/>
                </a:solidFill>
              </a:defRPr>
            </a:pPr>
            <a:r>
              <a:t>What is LangGraph?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6B7280"/>
                </a:solidFill>
              </a:defRPr>
            </a:pPr>
            <a:r>
              <a:t>And when should you use it?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9FAFB"/>
                </a:solidFill>
              </a:defRPr>
            </a:pPr>
            <a:r>
              <a:t>LangGraph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A framework for building stateful, multi-actor AI applications</a:t>
            </a:r>
          </a:p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Built on top of LangChain</a:t>
            </a:r>
          </a:p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Graph-based workflow orchestration</a:t>
            </a:r>
          </a:p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First-class support for cycles and loops</a:t>
            </a:r>
          </a:p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Built-in persistence and memory</a:t>
            </a:r>
          </a:p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Human-in-the-loop capabilities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9FAFB"/>
                </a:solidFill>
              </a:defRPr>
            </a:pPr>
            <a:r>
              <a:t>When to Use LangGraph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9FAFB"/>
                </a:solidFill>
              </a:defRPr>
            </a:pPr>
            <a:r>
              <a:t>Use LangGraph When: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51206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You need stateful conversations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Complex multi-step workflows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Agents that use tools iteratively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Multi-agent collaboration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Human approval workflows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Debugging/observability is critical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371600"/>
            <a:ext cx="548640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48095" y="141732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9FAFB"/>
                </a:solidFill>
              </a:defRPr>
            </a:pPr>
            <a:r>
              <a:t>Maybe Skip If: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30975" y="2194560"/>
            <a:ext cx="51206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Simple one-shot LLM calls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Basic RAG pipelines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No state needed between calls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Linear, non-branching flows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Prototype/POC stage only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1F2937"/>
                </a:solidFill>
              </a:defRPr>
            </a:pPr>
            <a:r>
              <a:t>Core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6B7280"/>
                </a:solidFill>
              </a:defRPr>
            </a:pPr>
            <a:r>
              <a:t>State, Nodes, and Edges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9FAFB"/>
                </a:solidFill>
              </a:defRPr>
            </a:pPr>
            <a:r>
              <a:t>The Three Building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STATE - The data that flows through your graph</a:t>
            </a:r>
          </a:p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    - TypedDict or Pydantic model</a:t>
            </a:r>
          </a:p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    - Persisted across nodes</a:t>
            </a:r>
          </a:p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</a:t>
            </a:r>
          </a:p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NODES - Functions that process state</a:t>
            </a:r>
          </a:p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    - Take state as input</a:t>
            </a:r>
          </a:p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    - Return state updates</a:t>
            </a:r>
          </a:p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</a:t>
            </a:r>
          </a:p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EDGES - Connections between nodes</a:t>
            </a:r>
          </a:p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    - Direct edges (always execute)</a:t>
            </a:r>
          </a:p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    - Conditional edges (dynamic routing)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9FAFB"/>
                </a:solidFill>
              </a:defRPr>
            </a:pPr>
            <a:r>
              <a:t>Basic Graph 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362895" cy="45720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920240"/>
            <a:ext cx="98142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 algn="ctr">
              <a:defRPr sz="1800">
                <a:solidFill>
                  <a:srgbClr val="1F2937"/>
                </a:solidFill>
                <a:latin typeface="Consolas"/>
              </a:defRPr>
            </a:pPr>
            <a:r>
              <a:t>                    START</a:t>
            </a:r>
            <a:br/>
            <a:r>
              <a:t>                      |</a:t>
            </a:r>
            <a:br/>
            <a:r>
              <a:t>                      v</a:t>
            </a:r>
            <a:br/>
            <a:r>
              <a:t>               +-------------+</a:t>
            </a:r>
            <a:br/>
            <a:r>
              <a:t>               |   Node A    |</a:t>
            </a:r>
            <a:br/>
            <a:r>
              <a:t>               +-------------+</a:t>
            </a:r>
            <a:br/>
            <a:r>
              <a:t>                      |</a:t>
            </a:r>
            <a:br/>
            <a:r>
              <a:t>                      v</a:t>
            </a:r>
            <a:br/>
            <a:r>
              <a:t>               +-------------+</a:t>
            </a:r>
            <a:br/>
            <a:r>
              <a:t>               |   Node B    |</a:t>
            </a:r>
            <a:br/>
            <a:r>
              <a:t>               +-------------+</a:t>
            </a:r>
            <a:br/>
            <a:r>
              <a:t>                      |</a:t>
            </a:r>
            <a:br/>
            <a:r>
              <a:t>                      v</a:t>
            </a:r>
            <a:br/>
            <a:r>
              <a:t>                     END</a:t>
            </a:r>
            <a:br/>
            <a:r>
              <a:t>   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9FAFB"/>
                </a:solidFill>
              </a:defRPr>
            </a:pPr>
            <a:r>
              <a:t>Defining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State holds all data for your workflow</a:t>
            </a:r>
          </a:p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Use TypedDict or MessagesState</a:t>
            </a:r>
          </a:p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add_messages reducer appends messages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0" y="1371600"/>
            <a:ext cx="5943600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0" y="1554480"/>
            <a:ext cx="5577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2E8F0"/>
                </a:solidFill>
                <a:latin typeface="Consolas"/>
              </a:defRPr>
            </a:pPr>
            <a:r>
              <a:t>from typing import Annotated</a:t>
            </a:r>
            <a:br/>
            <a:r>
              <a:t>from langgraph.graph import MessagesState</a:t>
            </a:r>
            <a:br/>
            <a:r>
              <a:t>from langgraph.graph.message import add_messages</a:t>
            </a:r>
            <a:br/>
            <a:br/>
            <a:r>
              <a:t># Option 1: Custom TypedDict</a:t>
            </a:r>
            <a:br/>
            <a:r>
              <a:t>class MyState(TypedDict):</a:t>
            </a:r>
            <a:br/>
            <a:r>
              <a:t>    messages: Annotated[list, add_messages]</a:t>
            </a:r>
            <a:br/>
            <a:r>
              <a:t>    user_name: str</a:t>
            </a:r>
            <a:br/>
            <a:br/>
            <a:r>
              <a:t># Option 2: Extend MessagesState</a:t>
            </a:r>
            <a:br/>
            <a:r>
              <a:t>class MyState(MessagesState):</a:t>
            </a:r>
            <a:br/>
            <a:r>
              <a:t>    user_name: str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9FAFB"/>
                </a:solidFill>
              </a:defRPr>
            </a:pPr>
            <a:r>
              <a:t>Defining Nodes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Nodes are Python functions</a:t>
            </a:r>
          </a:p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Receive current state as input</a:t>
            </a:r>
          </a:p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Return dict with state updates</a:t>
            </a:r>
          </a:p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Can call LLMs, APIs, tools, etc.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0" y="1371600"/>
            <a:ext cx="5943600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0" y="1554480"/>
            <a:ext cx="5577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2E8F0"/>
                </a:solidFill>
                <a:latin typeface="Consolas"/>
              </a:defRPr>
            </a:pPr>
            <a:r>
              <a:t>def chatbot(state: ChatState) -&gt; dict:</a:t>
            </a:r>
            <a:br/>
            <a:r>
              <a:t>    """Process messages and respond"""</a:t>
            </a:r>
            <a:br/>
            <a:r>
              <a:t>    messages = state["messages"]</a:t>
            </a:r>
            <a:br/>
            <a:br/>
            <a:r>
              <a:t>    response = llm.invoke([</a:t>
            </a:r>
            <a:br/>
            <a:r>
              <a:t>        SystemMessage(content="You are helpful."),</a:t>
            </a:r>
            <a:br/>
            <a:r>
              <a:t>        *messages</a:t>
            </a:r>
            <a:br/>
            <a:r>
              <a:t>    ])</a:t>
            </a:r>
            <a:br/>
            <a:br/>
            <a:r>
              <a:t>    return {"messages": [response]}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9FAFB"/>
                </a:solidFill>
              </a:defRPr>
            </a:pPr>
            <a:r>
              <a:t>Building the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Create StateGraph with state type</a:t>
            </a:r>
          </a:p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Add nodes and edges</a:t>
            </a:r>
          </a:p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Compile to get runnable graph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0" y="1371600"/>
            <a:ext cx="5943600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0" y="1554480"/>
            <a:ext cx="5577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2E8F0"/>
                </a:solidFill>
                <a:latin typeface="Consolas"/>
              </a:defRPr>
            </a:pPr>
            <a:r>
              <a:t>from langgraph.graph import StateGraph, START, END</a:t>
            </a:r>
            <a:br/>
            <a:br/>
            <a:r>
              <a:t>builder = StateGraph(ChatState)</a:t>
            </a:r>
            <a:br/>
            <a:br/>
            <a:r>
              <a:t># Add nodes</a:t>
            </a:r>
            <a:br/>
            <a:r>
              <a:t>builder.add_node("chatbot", chatbot)</a:t>
            </a:r>
            <a:br/>
            <a:br/>
            <a:r>
              <a:t># Add edges</a:t>
            </a:r>
            <a:br/>
            <a:r>
              <a:t>builder.add_edge(START, "chatbot")</a:t>
            </a:r>
            <a:br/>
            <a:r>
              <a:t>builder.add_edge("chatbot", END)</a:t>
            </a:r>
            <a:br/>
            <a:br/>
            <a:r>
              <a:t># Compile</a:t>
            </a:r>
            <a:br/>
            <a:r>
              <a:t>graph = builder.compile()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1F2937"/>
                </a:solidFill>
              </a:defRPr>
            </a:pPr>
            <a:r>
              <a:t>Conditional Routing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6B7280"/>
                </a:solidFill>
              </a:defRPr>
            </a:pPr>
            <a:r>
              <a:t>Dynamic flow control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9FAFB"/>
                </a:solidFill>
              </a:defRPr>
            </a:pPr>
            <a:r>
              <a:t>Conditional Edges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362895" cy="45720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920240"/>
            <a:ext cx="98142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 algn="ctr">
              <a:defRPr sz="1800">
                <a:solidFill>
                  <a:srgbClr val="1F2937"/>
                </a:solidFill>
                <a:latin typeface="Consolas"/>
              </a:defRPr>
            </a:pPr>
            <a:r>
              <a:t>                       START</a:t>
            </a:r>
            <a:br/>
            <a:r>
              <a:t>                         |</a:t>
            </a:r>
            <a:br/>
            <a:r>
              <a:t>                         v</a:t>
            </a:r>
            <a:br/>
            <a:r>
              <a:t>                  +------------+</a:t>
            </a:r>
            <a:br/>
            <a:r>
              <a:t>                  |  Classify  |</a:t>
            </a:r>
            <a:br/>
            <a:r>
              <a:t>                  +------------+</a:t>
            </a:r>
            <a:br/>
            <a:r>
              <a:t>                         |</a:t>
            </a:r>
            <a:br/>
            <a:r>
              <a:t>            +------------+------------+</a:t>
            </a:r>
            <a:br/>
            <a:r>
              <a:t>            |            |            |</a:t>
            </a:r>
            <a:br/>
            <a:r>
              <a:t>            v            v            v</a:t>
            </a:r>
            <a:br/>
            <a:r>
              <a:t>      +---------+  +---------+  +---------+</a:t>
            </a:r>
            <a:br/>
            <a:r>
              <a:t>      | Billing |  | Support |  | General |</a:t>
            </a:r>
            <a:br/>
            <a:r>
              <a:t>      +---------+  +---------+  +---------+</a:t>
            </a:r>
            <a:br/>
            <a:r>
              <a:t>            |            |            |</a:t>
            </a:r>
            <a:br/>
            <a:r>
              <a:t>            +------------+------------+</a:t>
            </a:r>
            <a:br/>
            <a:r>
              <a:t>                         |</a:t>
            </a:r>
            <a:br/>
            <a:r>
              <a:t>                         v</a:t>
            </a:r>
            <a:br/>
            <a:r>
              <a:t>                        END</a:t>
            </a:r>
            <a:br/>
            <a:r>
              <a:t>   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9FAFB"/>
                </a:solidFill>
              </a:defRPr>
            </a:pPr>
            <a:r>
              <a:t>Conditional Edges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Route based on state values</a:t>
            </a:r>
          </a:p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Router function returns next node name</a:t>
            </a:r>
          </a:p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Map return values to node names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0" y="1371600"/>
            <a:ext cx="5943600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0" y="1554480"/>
            <a:ext cx="5577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2E8F0"/>
                </a:solidFill>
                <a:latin typeface="Consolas"/>
              </a:defRPr>
            </a:pPr>
            <a:r>
              <a:t>def route_query(state) -&gt; Literal["billing", "support", "general"]:</a:t>
            </a:r>
            <a:br/>
            <a:r>
              <a:t>    query_type = state["query_type"]</a:t>
            </a:r>
            <a:br/>
            <a:r>
              <a:t>    if query_type == "billing":</a:t>
            </a:r>
            <a:br/>
            <a:r>
              <a:t>        return "billing"</a:t>
            </a:r>
            <a:br/>
            <a:r>
              <a:t>    elif query_type == "support":</a:t>
            </a:r>
            <a:br/>
            <a:r>
              <a:t>        return "support"</a:t>
            </a:r>
            <a:br/>
            <a:r>
              <a:t>    return "general"</a:t>
            </a:r>
            <a:br/>
            <a:br/>
            <a:r>
              <a:t>builder.add_conditional_edges(</a:t>
            </a:r>
            <a:br/>
            <a:r>
              <a:t>    "classify",</a:t>
            </a:r>
            <a:br/>
            <a:r>
              <a:t>    route_query,</a:t>
            </a:r>
            <a:br/>
            <a:r>
              <a:t>    {</a:t>
            </a:r>
            <a:br/>
            <a:r>
              <a:t>        "billing": "billing",</a:t>
            </a:r>
            <a:br/>
            <a:r>
              <a:t>        "support": "support",</a:t>
            </a:r>
            <a:br/>
            <a:r>
              <a:t>        "general": "general"</a:t>
            </a:r>
            <a:br/>
            <a:r>
              <a:t>    }</a:t>
            </a:r>
            <a:br/>
            <a:r>
              <a:t>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1F2937"/>
                </a:solidFill>
              </a:defRPr>
            </a:pPr>
            <a:r>
              <a:t>Tool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6B7280"/>
                </a:solidFill>
              </a:defRPr>
            </a:pPr>
            <a:r>
              <a:t>Extending agent capabilities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9FAFB"/>
                </a:solidFill>
              </a:defRPr>
            </a:pPr>
            <a:r>
              <a:t>Creating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Tools are decorated functions</a:t>
            </a:r>
          </a:p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Docstring becomes tool description</a:t>
            </a:r>
          </a:p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LLM uses description to decide when to call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0" y="1371600"/>
            <a:ext cx="5943600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0" y="1554480"/>
            <a:ext cx="5577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2E8F0"/>
                </a:solidFill>
                <a:latin typeface="Consolas"/>
              </a:defRPr>
            </a:pPr>
            <a:r>
              <a:t>from langchain_core.tools import tool</a:t>
            </a:r>
            <a:br/>
            <a:br/>
            <a:r>
              <a:t>@tool</a:t>
            </a:r>
            <a:br/>
            <a:r>
              <a:t>def calculator(expression: str) -&gt; str:</a:t>
            </a:r>
            <a:br/>
            <a:r>
              <a:t>    """Calculate a math expression.</a:t>
            </a:r>
            <a:br/>
            <a:br/>
            <a:r>
              <a:t>    Args:</a:t>
            </a:r>
            <a:br/>
            <a:r>
              <a:t>        expression: Math expression like '2 + 2'</a:t>
            </a:r>
            <a:br/>
            <a:r>
              <a:t>    """</a:t>
            </a:r>
            <a:br/>
            <a:r>
              <a:t>    result = eval(expression)</a:t>
            </a:r>
            <a:br/>
            <a:r>
              <a:t>    return str(result)</a:t>
            </a:r>
            <a:br/>
            <a:br/>
            <a:r>
              <a:t>@tool</a:t>
            </a:r>
            <a:br/>
            <a:r>
              <a:t>def get_weather(city: str) -&gt; str:</a:t>
            </a:r>
            <a:br/>
            <a:r>
              <a:t>    """Get weather for a city."""</a:t>
            </a:r>
            <a:br/>
            <a:r>
              <a:t>    return f"Weather in {city}: Sunny, 72F"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9FAFB"/>
                </a:solidFill>
              </a:defRPr>
            </a:pPr>
            <a:r>
              <a:t>Agent Loop Pattern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362895" cy="45720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920240"/>
            <a:ext cx="98142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 algn="ctr">
              <a:defRPr sz="1800">
                <a:solidFill>
                  <a:srgbClr val="1F2937"/>
                </a:solidFill>
                <a:latin typeface="Consolas"/>
              </a:defRPr>
            </a:pPr>
            <a:r>
              <a:t>              START</a:t>
            </a:r>
            <a:br/>
            <a:r>
              <a:t>                |</a:t>
            </a:r>
            <a:br/>
            <a:r>
              <a:t>                v</a:t>
            </a:r>
            <a:br/>
            <a:r>
              <a:t>          +-----------+</a:t>
            </a:r>
            <a:br/>
            <a:r>
              <a:t>          |   Agent   |&lt;---------+</a:t>
            </a:r>
            <a:br/>
            <a:r>
              <a:t>          +-----------+          |</a:t>
            </a:r>
            <a:br/>
            <a:r>
              <a:t>                |                |</a:t>
            </a:r>
            <a:br/>
            <a:r>
              <a:t>                v                |</a:t>
            </a:r>
            <a:br/>
            <a:r>
              <a:t>        Has tool calls?          |</a:t>
            </a:r>
            <a:br/>
            <a:r>
              <a:t>           /       \             |</a:t>
            </a:r>
            <a:br/>
            <a:r>
              <a:t>         Yes        No           |</a:t>
            </a:r>
            <a:br/>
            <a:r>
              <a:t>          |          |           |</a:t>
            </a:r>
            <a:br/>
            <a:r>
              <a:t>          v          v           |</a:t>
            </a:r>
            <a:br/>
            <a:r>
              <a:t>    +-----------+   END          |</a:t>
            </a:r>
            <a:br/>
            <a:r>
              <a:t>    |   Tools   |                |</a:t>
            </a:r>
            <a:br/>
            <a:r>
              <a:t>    +-----------+                |</a:t>
            </a:r>
            <a:br/>
            <a:r>
              <a:t>          |                      |</a:t>
            </a:r>
            <a:br/>
            <a:r>
              <a:t>          +----------------------+</a:t>
            </a:r>
            <a:br/>
            <a:r>
              <a:t>   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9FAFB"/>
                </a:solidFill>
              </a:defRPr>
            </a:pPr>
            <a:r>
              <a:t>Using ToolNode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ToolNode executes tool calls automatically</a:t>
            </a:r>
          </a:p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Bind tools to LLM with bind_tools()</a:t>
            </a:r>
          </a:p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Check for tool_calls to route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0" y="1371600"/>
            <a:ext cx="5943600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0" y="1554480"/>
            <a:ext cx="5577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2E8F0"/>
                </a:solidFill>
                <a:latin typeface="Consolas"/>
              </a:defRPr>
            </a:pPr>
            <a:r>
              <a:t>from langgraph.prebuilt import ToolNode</a:t>
            </a:r>
            <a:br/>
            <a:br/>
            <a:r>
              <a:t>tools = [calculator, get_weather]</a:t>
            </a:r>
            <a:br/>
            <a:r>
              <a:t>llm_with_tools = llm.bind_tools(tools)</a:t>
            </a:r>
            <a:br/>
            <a:br/>
            <a:r>
              <a:t>def should_continue(state):</a:t>
            </a:r>
            <a:br/>
            <a:r>
              <a:t>    last_msg = state["messages"][-1]</a:t>
            </a:r>
            <a:br/>
            <a:r>
              <a:t>    if last_msg.tool_calls:</a:t>
            </a:r>
            <a:br/>
            <a:r>
              <a:t>        return "tools"</a:t>
            </a:r>
            <a:br/>
            <a:r>
              <a:t>    return "end"</a:t>
            </a:r>
            <a:br/>
            <a:br/>
            <a:r>
              <a:t>builder.add_node("agent", agent)</a:t>
            </a:r>
            <a:br/>
            <a:r>
              <a:t>builder.add_node("tools", ToolNode(tools))</a:t>
            </a:r>
            <a:br/>
            <a:r>
              <a:t>builder.add_conditional_edges(</a:t>
            </a:r>
            <a:br/>
            <a:r>
              <a:t>    "agent", should_continue,</a:t>
            </a:r>
            <a:br/>
            <a:r>
              <a:t>    {"tools": "tools", "end": END}</a:t>
            </a:r>
            <a:br/>
            <a:r>
              <a:t>)</a:t>
            </a:r>
            <a:br/>
            <a:r>
              <a:t>builder.add_edge("tools", "agent")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9FAFB"/>
                </a:solidFill>
              </a:defRPr>
            </a:pPr>
            <a:r>
              <a:t>Shortcut: create_react_agent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Prebuilt agent with tool loop</a:t>
            </a:r>
          </a:p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Replaces ~20 lines of manual code</a:t>
            </a:r>
          </a:p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Same functionality, less boilerplate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0" y="1371600"/>
            <a:ext cx="5943600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0" y="1554480"/>
            <a:ext cx="5577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2E8F0"/>
                </a:solidFill>
                <a:latin typeface="Consolas"/>
              </a:defRPr>
            </a:pPr>
            <a:r>
              <a:t>from langgraph.prebuilt import create_react_agent</a:t>
            </a:r>
            <a:br/>
            <a:r>
              <a:t>from langgraph.checkpoint.memory import MemorySaver</a:t>
            </a:r>
            <a:br/>
            <a:br/>
            <a:r>
              <a:t>graph = create_react_agent(</a:t>
            </a:r>
            <a:br/>
            <a:r>
              <a:t>    model=llm,</a:t>
            </a:r>
            <a:br/>
            <a:r>
              <a:t>    tools=[calculator, get_weather],</a:t>
            </a:r>
            <a:br/>
            <a:r>
              <a:t>    checkpointer=MemorySaver(),</a:t>
            </a:r>
            <a:br/>
            <a:r>
              <a:t>    prompt="You are a helpful assistant."</a:t>
            </a:r>
            <a:br/>
            <a:r>
              <a:t>)</a:t>
            </a:r>
            <a:br/>
            <a:br/>
            <a:r>
              <a:t># That's it! Full agent loop built-in.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1F2937"/>
                </a:solidFill>
              </a:defRPr>
            </a:pPr>
            <a:r>
              <a:t>Persistence &amp;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6B7280"/>
                </a:solidFill>
              </a:defRPr>
            </a:pPr>
            <a:r>
              <a:t>Multi-turn conversations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9FAFB"/>
                </a:solidFill>
              </a:defRPr>
            </a:pPr>
            <a:r>
              <a:t>Adding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Checkpointers save state after each node</a:t>
            </a:r>
          </a:p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MemorySaver for development</a:t>
            </a:r>
          </a:p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PostgresSaver/SqliteSaver for production</a:t>
            </a:r>
          </a:p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Thread IDs separate conversations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0" y="1371600"/>
            <a:ext cx="5943600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0" y="1554480"/>
            <a:ext cx="5577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2E8F0"/>
                </a:solidFill>
                <a:latin typeface="Consolas"/>
              </a:defRPr>
            </a:pPr>
            <a:r>
              <a:t>from langgraph.checkpoint.memory import MemorySaver</a:t>
            </a:r>
            <a:br/>
            <a:br/>
            <a:r>
              <a:t>memory = MemorySaver()</a:t>
            </a:r>
            <a:br/>
            <a:r>
              <a:t>graph = builder.compile(checkpointer=memory)</a:t>
            </a:r>
            <a:br/>
            <a:br/>
            <a:r>
              <a:t># Each thread_id is a separate conversation</a:t>
            </a:r>
            <a:br/>
            <a:r>
              <a:t>config = {"configurable": {"thread_id": "user-123"}}</a:t>
            </a:r>
            <a:br/>
            <a:br/>
            <a:r>
              <a:t>result = graph.invoke(</a:t>
            </a:r>
            <a:br/>
            <a:r>
              <a:t>    {"messages": [HumanMessage("Hi!")]},</a:t>
            </a:r>
            <a:br/>
            <a:r>
              <a:t>    config=config</a:t>
            </a:r>
            <a:br/>
            <a:r>
              <a:t>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9FAFB"/>
                </a:solidFill>
              </a:defRPr>
            </a:pPr>
            <a:r>
              <a:t>State Inspection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Inspect current state with get_state()</a:t>
            </a:r>
          </a:p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Browse history with get_state_history()</a:t>
            </a:r>
          </a:p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Time travel by replaying from any point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0" y="1371600"/>
            <a:ext cx="5943600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0" y="1554480"/>
            <a:ext cx="5577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2E8F0"/>
                </a:solidFill>
                <a:latin typeface="Consolas"/>
              </a:defRPr>
            </a:pPr>
            <a:r>
              <a:t># Get current state</a:t>
            </a:r>
            <a:br/>
            <a:r>
              <a:t>state = graph.get_state(config)</a:t>
            </a:r>
            <a:br/>
            <a:r>
              <a:t>print(state.values["messages"])</a:t>
            </a:r>
            <a:br/>
            <a:br/>
            <a:r>
              <a:t># Get history</a:t>
            </a:r>
            <a:br/>
            <a:r>
              <a:t>for snapshot in graph.get_state_history(config):</a:t>
            </a:r>
            <a:br/>
            <a:r>
              <a:t>    print(snapshot.config)</a:t>
            </a:r>
            <a:br/>
            <a:r>
              <a:t>    print(snapshot.values)</a:t>
            </a:r>
            <a:br/>
            <a:br/>
            <a:r>
              <a:t># Resume from historical state</a:t>
            </a:r>
            <a:br/>
            <a:r>
              <a:t>old_config = snapshot.config</a:t>
            </a:r>
            <a:br/>
            <a:r>
              <a:t>graph.invoke(new_input, old_config)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1F2937"/>
                </a:solidFill>
              </a:defRPr>
            </a:pPr>
            <a:r>
              <a:t>Multi-Agent 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6B7280"/>
                </a:solidFill>
              </a:defRPr>
            </a:pPr>
            <a:r>
              <a:t>Teams of specialized agents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9FAFB"/>
                </a:solidFill>
              </a:defRPr>
            </a:pPr>
            <a:r>
              <a:t>Why Multi-Agent?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Context window limits - split knowledge</a:t>
            </a:r>
          </a:p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Specialization - different expertise per agent</a:t>
            </a:r>
          </a:p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Parallelism - multiple agents working simultaneously</a:t>
            </a:r>
          </a:p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Modularity - easier to update individual agents</a:t>
            </a:r>
          </a:p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Separation of concerns - cleaner architecture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9FAFB"/>
                </a:solidFill>
              </a:defRPr>
            </a:pPr>
            <a:r>
              <a:t>Supervisor Pattern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362895" cy="45720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920240"/>
            <a:ext cx="98142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 algn="ctr">
              <a:defRPr sz="1800">
                <a:solidFill>
                  <a:srgbClr val="1F2937"/>
                </a:solidFill>
                <a:latin typeface="Consolas"/>
              </a:defRPr>
            </a:pPr>
            <a:r>
              <a:t>                    +---------------+</a:t>
            </a:r>
            <a:br/>
            <a:r>
              <a:t>                    |  Supervisor   |</a:t>
            </a:r>
            <a:br/>
            <a:r>
              <a:t>                    +---------------+</a:t>
            </a:r>
            <a:br/>
            <a:r>
              <a:t>                           |</a:t>
            </a:r>
            <a:br/>
            <a:r>
              <a:t>            +--------------+--------------+</a:t>
            </a:r>
            <a:br/>
            <a:r>
              <a:t>            |              |              |</a:t>
            </a:r>
            <a:br/>
            <a:r>
              <a:t>            v              v              v</a:t>
            </a:r>
            <a:br/>
            <a:r>
              <a:t>      +-----------+  +-----------+  +-----------+</a:t>
            </a:r>
            <a:br/>
            <a:r>
              <a:t>      | Researcher|  |   Coder   |  |  Writer   |</a:t>
            </a:r>
            <a:br/>
            <a:r>
              <a:t>      +-----------+  +-----------+  +-----------+</a:t>
            </a:r>
            <a:br/>
            <a:r>
              <a:t>            |              |              |</a:t>
            </a:r>
            <a:br/>
            <a:r>
              <a:t>            +--------------+--------------+</a:t>
            </a:r>
            <a:br/>
            <a:r>
              <a:t>                           |</a:t>
            </a:r>
            <a:br/>
            <a:r>
              <a:t>                           v</a:t>
            </a:r>
            <a:br/>
            <a:r>
              <a:t>                    Back to Supervisor</a:t>
            </a:r>
            <a:br/>
            <a:r>
              <a:t>   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9FAFB"/>
                </a:solidFill>
              </a:defRPr>
            </a:pPr>
            <a:r>
              <a:t>Manual Supervisor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Supervisor routes to workers</a:t>
            </a:r>
          </a:p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Workers report back to supervisor</a:t>
            </a:r>
          </a:p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Supervisor decides next step or finish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0" y="1371600"/>
            <a:ext cx="5943600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0" y="1554480"/>
            <a:ext cx="5577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2E8F0"/>
                </a:solidFill>
                <a:latin typeface="Consolas"/>
              </a:defRPr>
            </a:pPr>
            <a:r>
              <a:t>class RouteDecision(BaseModel):</a:t>
            </a:r>
            <a:br/>
            <a:r>
              <a:t>    next_worker: Literal["researcher", "coder", "FINISH"]</a:t>
            </a:r>
            <a:br/>
            <a:br/>
            <a:r>
              <a:t>def supervisor(state):</a:t>
            </a:r>
            <a:br/>
            <a:r>
              <a:t>    decision = llm.with_structured_output(</a:t>
            </a:r>
            <a:br/>
            <a:r>
              <a:t>        RouteDecision</a:t>
            </a:r>
            <a:br/>
            <a:r>
              <a:t>    ).invoke(state["messages"])</a:t>
            </a:r>
            <a:br/>
            <a:r>
              <a:t>    return {"next_worker": decision.next_worker}</a:t>
            </a:r>
            <a:br/>
            <a:br/>
            <a:r>
              <a:t>def route_to_worker(state):</a:t>
            </a:r>
            <a:br/>
            <a:r>
              <a:t>    if state["next_worker"] == "FINISH":</a:t>
            </a:r>
            <a:br/>
            <a:r>
              <a:t>        return "end"</a:t>
            </a:r>
            <a:br/>
            <a:r>
              <a:t>    return state["next_worker"]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1F2937"/>
                </a:solidFill>
              </a:defRPr>
            </a:pPr>
            <a:r>
              <a:t>Prebuilt Multi-Agent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6B7280"/>
                </a:solidFill>
              </a:defRPr>
            </a:pPr>
            <a:r>
              <a:t>Production shortcuts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9FAFB"/>
                </a:solidFill>
              </a:defRPr>
            </a:pPr>
            <a:r>
              <a:t>create_supervisor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From langgraph-supervisor package</a:t>
            </a:r>
          </a:p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Automatically handles routing</a:t>
            </a:r>
          </a:p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Workers created with create_react_agent</a:t>
            </a:r>
          </a:p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Reduces ~80 lines to ~30 lines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0" y="1371600"/>
            <a:ext cx="5943600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0" y="1554480"/>
            <a:ext cx="5577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2E8F0"/>
                </a:solidFill>
                <a:latin typeface="Consolas"/>
              </a:defRPr>
            </a:pPr>
            <a:r>
              <a:t>from langgraph_supervisor import create_supervisor</a:t>
            </a:r>
            <a:br/>
            <a:r>
              <a:t>from langgraph.prebuilt import create_react_agent</a:t>
            </a:r>
            <a:br/>
            <a:br/>
            <a:r>
              <a:t>researcher = create_react_agent(</a:t>
            </a:r>
            <a:br/>
            <a:r>
              <a:t>    model=llm, tools=[], name="researcher",</a:t>
            </a:r>
            <a:br/>
            <a:r>
              <a:t>    prompt="You are a research specialist."</a:t>
            </a:r>
            <a:br/>
            <a:r>
              <a:t>)</a:t>
            </a:r>
            <a:br/>
            <a:r>
              <a:t>coder = create_react_agent(</a:t>
            </a:r>
            <a:br/>
            <a:r>
              <a:t>    model=llm, tools=[], name="coder",</a:t>
            </a:r>
            <a:br/>
            <a:r>
              <a:t>    prompt="You are a coding specialist."</a:t>
            </a:r>
            <a:br/>
            <a:r>
              <a:t>)</a:t>
            </a:r>
            <a:br/>
            <a:br/>
            <a:r>
              <a:t>supervisor = create_supervisor(</a:t>
            </a:r>
            <a:br/>
            <a:r>
              <a:t>    model=llm,</a:t>
            </a:r>
            <a:br/>
            <a:r>
              <a:t>    agents=[researcher, coder],</a:t>
            </a:r>
            <a:br/>
            <a:r>
              <a:t>    prompt="Route to the right specialist."</a:t>
            </a:r>
            <a:br/>
            <a:r>
              <a:t>).compile()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9FAFB"/>
                </a:solidFill>
              </a:defRPr>
            </a:pPr>
            <a:r>
              <a:t>Swarm / Handoff Pattern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362895" cy="45720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920240"/>
            <a:ext cx="98142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 algn="ctr">
              <a:defRPr sz="1800">
                <a:solidFill>
                  <a:srgbClr val="1F2937"/>
                </a:solidFill>
                <a:latin typeface="Consolas"/>
              </a:defRPr>
            </a:pPr>
            <a:r>
              <a:t>      +----------+          +----------+</a:t>
            </a:r>
            <a:br/>
            <a:r>
              <a:t>      |  Sales   |---------&gt;| Support  |</a:t>
            </a:r>
            <a:br/>
            <a:r>
              <a:t>      +----------+          +----------+</a:t>
            </a:r>
            <a:br/>
            <a:r>
              <a:t>           ^                     |</a:t>
            </a:r>
            <a:br/>
            <a:r>
              <a:t>           |                     v</a:t>
            </a:r>
            <a:br/>
            <a:r>
              <a:t>           |               +----------+</a:t>
            </a:r>
            <a:br/>
            <a:r>
              <a:t>           +---------------|  Billing |</a:t>
            </a:r>
            <a:br/>
            <a:r>
              <a:t>                           +----------+</a:t>
            </a:r>
            <a:br/>
            <a:br/>
            <a:r>
              <a:t>      Agents hand off to each other directly</a:t>
            </a:r>
            <a:br/>
            <a:r>
              <a:t>      (no central supervisor)</a:t>
            </a:r>
            <a:br/>
            <a:r>
              <a:t>   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9FAFB"/>
                </a:solidFill>
              </a:defRPr>
            </a:pPr>
            <a:r>
              <a:t>create_swarm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From langgraph-swarm package</a:t>
            </a:r>
          </a:p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Peer-to-peer handoffs between agents</a:t>
            </a:r>
          </a:p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Use create_handoff_tool for transfers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0" y="1371600"/>
            <a:ext cx="5943600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0" y="1554480"/>
            <a:ext cx="5577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2E8F0"/>
                </a:solidFill>
                <a:latin typeface="Consolas"/>
              </a:defRPr>
            </a:pPr>
            <a:r>
              <a:t>from langgraph_swarm import create_swarm, create_handoff_tool</a:t>
            </a:r>
            <a:br/>
            <a:br/>
            <a:r>
              <a:t>transfer_to_billing = create_handoff_tool(</a:t>
            </a:r>
            <a:br/>
            <a:r>
              <a:t>    agent_name="billing",</a:t>
            </a:r>
            <a:br/>
            <a:r>
              <a:t>    description="Transfer to billing agent"</a:t>
            </a:r>
            <a:br/>
            <a:r>
              <a:t>)</a:t>
            </a:r>
            <a:br/>
            <a:br/>
            <a:r>
              <a:t>sales = create_react_agent(</a:t>
            </a:r>
            <a:br/>
            <a:r>
              <a:t>    model=llm,</a:t>
            </a:r>
            <a:br/>
            <a:r>
              <a:t>    tools=[transfer_to_billing],</a:t>
            </a:r>
            <a:br/>
            <a:r>
              <a:t>    name="sales"</a:t>
            </a:r>
            <a:br/>
            <a:r>
              <a:t>)</a:t>
            </a:r>
            <a:br/>
            <a:br/>
            <a:r>
              <a:t>swarm = create_swarm(</a:t>
            </a:r>
            <a:br/>
            <a:r>
              <a:t>    agents=[sales, support, billing],</a:t>
            </a:r>
            <a:br/>
            <a:r>
              <a:t>    default_active_agent="sales"</a:t>
            </a:r>
            <a:br/>
            <a:r>
              <a:t>).compile()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1F2937"/>
                </a:solidFill>
              </a:defRPr>
            </a:pPr>
            <a:r>
              <a:t>LangGraph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6B7280"/>
                </a:solidFill>
              </a:defRPr>
            </a:pPr>
            <a:r>
              <a:t>Visual debugging and testing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9FAFB"/>
                </a:solidFill>
              </a:defRPr>
            </a:pPr>
            <a:r>
              <a:t>LangGraph Studio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Visual graph representation</a:t>
            </a:r>
          </a:p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Step-by-step execution</a:t>
            </a:r>
          </a:p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State inspection at each node</a:t>
            </a:r>
          </a:p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Thread management</a:t>
            </a:r>
          </a:p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Time travel debugging</a:t>
            </a:r>
          </a:p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Real-time streaming view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9FAFB"/>
                </a:solidFill>
              </a:defRPr>
            </a:pPr>
            <a:r>
              <a:t>Setting Up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Create langgraph.json config</a:t>
            </a:r>
          </a:p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Define graph entry points</a:t>
            </a:r>
          </a:p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Run with langgraph dev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0" y="1371600"/>
            <a:ext cx="5943600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0" y="1554480"/>
            <a:ext cx="5577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2E8F0"/>
                </a:solidFill>
                <a:latin typeface="Consolas"/>
              </a:defRPr>
            </a:pPr>
            <a:r>
              <a:t>// langgraph.json</a:t>
            </a:r>
            <a:br/>
            <a:r>
              <a:t>{</a:t>
            </a:r>
            <a:br/>
            <a:r>
              <a:t>  "graphs": {</a:t>
            </a:r>
            <a:br/>
            <a:r>
              <a:t>    "chatbot": "./src/chatbot.py:graph",</a:t>
            </a:r>
            <a:br/>
            <a:r>
              <a:t>    "agent": "./src/agent.py:graph"</a:t>
            </a:r>
            <a:br/>
            <a:r>
              <a:t>  }</a:t>
            </a:r>
            <a:br/>
            <a:r>
              <a:t>}</a:t>
            </a:r>
            <a:br/>
            <a:br/>
            <a:r>
              <a:t># Terminal</a:t>
            </a:r>
            <a:br/>
            <a:r>
              <a:t>$ langgraph dev</a:t>
            </a:r>
            <a:br/>
            <a:r>
              <a:t># Opens http://localhost:8123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1F2937"/>
                </a:solidFill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6B7280"/>
                </a:solidFill>
              </a:defRPr>
            </a:pPr>
            <a:r>
              <a:t>Key takeaways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9FAFB"/>
                </a:solidFill>
              </a:defRPr>
            </a:pPr>
            <a:r>
              <a:t>What We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1. Core Concepts: State, Nodes, Edges</a:t>
            </a:r>
          </a:p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2. Conditional Routing: Dynamic flow control</a:t>
            </a:r>
          </a:p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3. Tool Integration: Extend agent capabilities</a:t>
            </a:r>
          </a:p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4. Persistence: Multi-turn conversations</a:t>
            </a:r>
          </a:p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5. Multi-Agent: Supervisor and Swarm patterns</a:t>
            </a:r>
          </a:p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6. Prebuilt Components: Production shortcuts</a:t>
            </a:r>
          </a:p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7. LangGraph Studio: Visual debugging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9FAFB"/>
                </a:solidFill>
              </a:defRPr>
            </a:pPr>
            <a:r>
              <a:t>Manual vs Prebuilt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9FAFB"/>
                </a:solidFill>
              </a:defRPr>
            </a:pPr>
            <a:r>
              <a:t>Learn Manual First: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51206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Understand the fundamentals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Full control over behavior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Custom routing logic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Educational value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371600"/>
            <a:ext cx="548640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48095" y="141732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9FAFB"/>
                </a:solidFill>
              </a:defRPr>
            </a:pPr>
            <a:r>
              <a:t>Use Prebuilt in Production: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30975" y="2194560"/>
            <a:ext cx="51206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create_react_agent for tool agents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create_supervisor for teams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create_swarm for handoffs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MessagesState for state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Less code, fewer bugs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9FAFB"/>
                </a:solidFill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Explore the notebooks hands-on</a:t>
            </a:r>
          </a:p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Check out LangGraph docs:</a:t>
            </a:r>
          </a:p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    langchain-ai.github.io/langgraph</a:t>
            </a:r>
          </a:p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</a:t>
            </a:r>
          </a:p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Try LangSmith for production tracing:</a:t>
            </a:r>
          </a:p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    smith.langchain.com</a:t>
            </a:r>
          </a:p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</a:t>
            </a:r>
          </a:p>
          <a:p>
            <a:pPr>
              <a:spcBef>
                <a:spcPts val="1200"/>
              </a:spcBef>
              <a:defRPr sz="2200">
                <a:solidFill>
                  <a:srgbClr val="1F2937"/>
                </a:solidFill>
              </a:defRPr>
            </a:pPr>
            <a:r>
              <a:t>  Build your own multi-agent application!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9FAFB"/>
                </a:solidFill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9CA3AF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